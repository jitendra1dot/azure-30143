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74" r:id="rId11"/>
    <p:sldId id="275" r:id="rId12"/>
    <p:sldId id="263" r:id="rId13"/>
    <p:sldId id="264" r:id="rId14"/>
    <p:sldId id="265" r:id="rId15"/>
    <p:sldId id="266" r:id="rId16"/>
    <p:sldId id="267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" name="Connector 2"/>
          <p:cNvCxnSpPr/>
          <p:nvPr/>
        </p:nvCxnSpPr>
        <p:spPr>
          <a:xfrm>
            <a:off x="87782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6926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070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0" y="10972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20116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29260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8404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47548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56692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8368" y="749808"/>
            <a:ext cx="566928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05156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CLOUD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572768"/>
            <a:ext cx="74980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rPr dirty="0"/>
              <a:t>Azure Policy Governance</a:t>
            </a:r>
            <a:br>
              <a:rPr dirty="0"/>
            </a:br>
            <a:r>
              <a:rPr dirty="0"/>
              <a:t>for Resource Tagging &amp;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90672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CFDCEA"/>
                </a:solidFill>
                <a:latin typeface="Aptos"/>
              </a:defRPr>
            </a:pPr>
            <a:r>
              <a:t>A governance architecture for controlling resource locations, enforcing CostCenter metadata, and remediating non-compliance.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0" y="1874519"/>
            <a:ext cx="1097280" cy="10972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</a:t>
            </a:r>
          </a:p>
        </p:txBody>
      </p:sp>
      <p:sp>
        <p:nvSpPr>
          <p:cNvPr id="23" name="Oval 22"/>
          <p:cNvSpPr/>
          <p:nvPr/>
        </p:nvSpPr>
        <p:spPr>
          <a:xfrm>
            <a:off x="10469880" y="2971800"/>
            <a:ext cx="1097280" cy="109728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4160520"/>
            <a:ext cx="1097280" cy="109728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12680" y="2514600"/>
            <a:ext cx="457200" cy="457200"/>
          </a:xfrm>
          <a:prstGeom prst="line">
            <a:avLst/>
          </a:prstGeom>
          <a:ln w="25400">
            <a:solidFill>
              <a:srgbClr val="329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012680" y="4069080"/>
            <a:ext cx="457200" cy="365760"/>
          </a:xfrm>
          <a:prstGeom prst="line">
            <a:avLst/>
          </a:prstGeom>
          <a:ln w="2540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2971800"/>
            <a:ext cx="0" cy="1188720"/>
          </a:xfrm>
          <a:prstGeom prst="line">
            <a:avLst/>
          </a:prstGeom>
          <a:ln w="25400">
            <a:solidFill>
              <a:srgbClr val="2D9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41080" y="544068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POLICY  •  TAGS  •  REGIONS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CF4879-4C0B-5921-F1A8-E2AD612312E7}"/>
              </a:ext>
            </a:extLst>
          </p:cNvPr>
          <p:cNvSpPr txBox="1"/>
          <p:nvPr/>
        </p:nvSpPr>
        <p:spPr>
          <a:xfrm>
            <a:off x="850232" y="4160520"/>
            <a:ext cx="569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Our Team: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8E6A51-3713-CD0E-DAE5-1E828282CE23}"/>
              </a:ext>
            </a:extLst>
          </p:cNvPr>
          <p:cNvSpPr txBox="1"/>
          <p:nvPr/>
        </p:nvSpPr>
        <p:spPr>
          <a:xfrm>
            <a:off x="827780" y="4655850"/>
            <a:ext cx="48126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2400030143-Jitendra.D</a:t>
            </a:r>
          </a:p>
          <a:p>
            <a:r>
              <a:rPr lang="en-US" sz="2400" dirty="0">
                <a:solidFill>
                  <a:schemeClr val="bg1"/>
                </a:solidFill>
              </a:rPr>
              <a:t>2400030209-Sudhendra </a:t>
            </a:r>
            <a:r>
              <a:rPr lang="en-US" sz="2400" dirty="0" err="1">
                <a:solidFill>
                  <a:schemeClr val="bg1"/>
                </a:solidFill>
              </a:rPr>
              <a:t>Sivanadh.Y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2400030219-Chanakya.P</a:t>
            </a:r>
          </a:p>
          <a:p>
            <a:r>
              <a:rPr lang="en-US" sz="2400" dirty="0">
                <a:solidFill>
                  <a:schemeClr val="bg1"/>
                </a:solidFill>
              </a:rPr>
              <a:t>24002086-Harshitha.V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problem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520440" cy="34747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34747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01  Region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rPr dirty="0"/>
              <a:t>Resources must be created only in approved Azure regions.</a:t>
            </a:r>
            <a:br>
              <a:rPr dirty="0"/>
            </a:br>
            <a:br>
              <a:rPr dirty="0"/>
            </a:br>
            <a:r>
              <a:rPr dirty="0"/>
              <a:t>A deployment outside the approved list should be blocked at deployment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34747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50292" cy="34747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02  CostCenter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t>Resources should carry a valid CostCenter tag so ownership and cloud spend can be associated with the right project or department.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520440" cy="34747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50292" cy="34747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03  Governance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t>Existing resources may already be non-compliant, and strict controls can create friction for legitimate urgent deployments.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85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The project therefore needs both  •  prevention  •  visibility  •  remediation  •  controlled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02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Azure Policy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74519"/>
            <a:ext cx="1051560" cy="10515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</a:t>
            </a:r>
            <a:br/>
            <a:r>
              <a:t>Definition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1874519"/>
            <a:ext cx="1051560" cy="1051560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74920" y="1874519"/>
            <a:ext cx="1051560" cy="105156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79" y="2395728"/>
            <a:ext cx="1143001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69480" y="1874519"/>
            <a:ext cx="1051560" cy="105156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Effect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64040" y="1874519"/>
            <a:ext cx="1051560" cy="105156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160520"/>
            <a:ext cx="50292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The rule: IF a resource matches a condition, apply an effect.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26280" y="4160520"/>
            <a:ext cx="50292" cy="114300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Attach the rule to a management group, subscription, resource group or resource.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160520"/>
            <a:ext cx="50292" cy="114300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Examples: Deny, Audit, Modify, DeployIfNotExists.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03 • USE 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Deny resource creation outside approved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5029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Business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C1C30"/>
                </a:solidFill>
                <a:latin typeface="Aptos"/>
              </a:defRPr>
            </a:pPr>
            <a:r>
              <a:t>“Only approved Azure regions may host governed resources.”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Create a parameterized list of approved locations.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Evaluate the resource location during deployment.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If the location is not approved → Deny the request.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If the location is approved → deployment can continue.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148840" cy="9601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0292" cy="9601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8191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Developer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VM → Japan East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1901952"/>
            <a:ext cx="64008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1417320"/>
            <a:ext cx="233172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50292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58191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1965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Check location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51008" y="2395728"/>
            <a:ext cx="0" cy="438912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2971800"/>
            <a:ext cx="3749039" cy="91440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2971800"/>
            <a:ext cx="50292" cy="91440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3136392"/>
            <a:ext cx="3383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C1C30"/>
                </a:solidFill>
                <a:latin typeface="Aptos"/>
              </a:defRPr>
            </a:pPr>
            <a:r>
              <a:t>NOT APPROVED → DENY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3383279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23F"/>
                </a:solidFill>
                <a:latin typeface="Aptos"/>
              </a:defRPr>
            </a:pPr>
            <a:r>
              <a:t>Deployment is blocked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366760" y="3886200"/>
            <a:ext cx="914400" cy="5486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3886200"/>
            <a:ext cx="0" cy="5486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12280" y="4480560"/>
            <a:ext cx="242316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12280" y="448056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5160" y="46451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07492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Deployment proceeds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4480560"/>
            <a:ext cx="2423160" cy="960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38360" y="4480560"/>
            <a:ext cx="50292" cy="9601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46451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07492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No unauthorized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USE 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Enforce a </a:t>
            </a:r>
            <a:r>
              <a:rPr dirty="0" err="1"/>
              <a:t>CostCenter</a:t>
            </a:r>
            <a:r>
              <a:rPr dirty="0"/>
              <a:t>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25" y="1146356"/>
            <a:ext cx="5486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D9C5D"/>
                </a:solidFill>
                <a:latin typeface="Aptos"/>
              </a:defRPr>
            </a:pPr>
            <a:r>
              <a:rPr sz="1600" dirty="0"/>
              <a:t>Why tagging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212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C1C30"/>
                </a:solidFill>
                <a:latin typeface="Aptos"/>
              </a:defRPr>
            </a:pPr>
            <a:r>
              <a:rPr sz="2400" dirty="0"/>
              <a:t>Turn resource metadata into usable cost &amp; ownership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Required tag: </a:t>
            </a:r>
            <a:r>
              <a:rPr sz="1600" dirty="0" err="1"/>
              <a:t>CostCenter</a:t>
            </a:r>
            <a:endParaRPr sz="1600" dirty="0"/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Example values: CSE001, FIN001, HR001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Choose the enforcement method based on how the correct value is known.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Modify is suitable when a trusted source can supply the value.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Deny is suitable when the creator must provide a valid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029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819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6177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VM • Central India • Environment=Prod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87968" y="2468880"/>
            <a:ext cx="0" cy="3200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788920"/>
            <a:ext cx="498348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788920"/>
            <a:ext cx="50292" cy="105156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9535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79"/>
            <a:ext cx="46177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Is CostCenter present and valid?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3840480"/>
            <a:ext cx="0" cy="50292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49840" y="3840480"/>
            <a:ext cx="0" cy="50292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4389120"/>
            <a:ext cx="242316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38912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53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MODIFY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Add / update tag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389120"/>
            <a:ext cx="2377440" cy="9601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4389120"/>
            <a:ext cx="50292" cy="9601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19" y="45537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498348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Reject invalid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The two bottlenecks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533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C1C30"/>
                </a:solidFill>
                <a:latin typeface="Aptos"/>
              </a:defRPr>
            </a:pPr>
            <a:r>
              <a:rPr dirty="0"/>
              <a:t>Strict Deny can block a legitimate urgent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47088"/>
            <a:ext cx="9692640" cy="36317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/>
              <a:t>Why:</a:t>
            </a:r>
            <a:r>
              <a:rPr lang="en-IN" dirty="0"/>
              <a:t> Strict Deny policies can block legitimate emergency deployments in unapproved regions.</a:t>
            </a:r>
            <a:endParaRPr lang="en-US" dirty="0"/>
          </a:p>
          <a:p>
            <a:r>
              <a:rPr lang="en-IN" b="1" dirty="0"/>
              <a:t>Problems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Required region may not be approved.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Deployment gets rejected.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Business operations may be delayed.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Emergency exception may be required.</a:t>
            </a:r>
          </a:p>
          <a:p>
            <a:endParaRPr lang="en-IN" b="1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A company allows </a:t>
            </a:r>
            <a:r>
              <a:rPr lang="en-IN" b="1" dirty="0"/>
              <a:t>East US</a:t>
            </a:r>
            <a:r>
              <a:rPr lang="en-IN" dirty="0"/>
              <a:t> and </a:t>
            </a:r>
            <a:r>
              <a:rPr lang="en-IN" b="1" dirty="0"/>
              <a:t>Central India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During an emergency, a VM is needed in </a:t>
            </a:r>
            <a:r>
              <a:rPr lang="en-IN" b="1" dirty="0"/>
              <a:t>West Europe</a:t>
            </a:r>
            <a:r>
              <a:rPr lang="en-IN" dirty="0"/>
              <a:t> → </a:t>
            </a:r>
            <a:r>
              <a:rPr lang="en-IN" b="1" dirty="0"/>
              <a:t>Policy denies the deployment.</a:t>
            </a:r>
            <a:endParaRPr lang="en-IN" dirty="0"/>
          </a:p>
          <a:p>
            <a:r>
              <a:rPr lang="en-IN" b="1" dirty="0"/>
              <a:t>Key Point</a:t>
            </a:r>
          </a:p>
          <a:p>
            <a:r>
              <a:rPr lang="en-IN" b="1" dirty="0"/>
              <a:t>Provide a controlled exception process for genuine emergencies.</a:t>
            </a:r>
            <a:endParaRPr lang="en-IN" dirty="0"/>
          </a:p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2F2BF8-8BBE-DB70-1E68-153FD66ADC2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838D8-1B55-E0C2-843A-E4491B5C57D8}"/>
              </a:ext>
            </a:extLst>
          </p:cNvPr>
          <p:cNvSpPr txBox="1"/>
          <p:nvPr/>
        </p:nvSpPr>
        <p:spPr>
          <a:xfrm>
            <a:off x="537411" y="513347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lang="en-IN" sz="2000" dirty="0"/>
              <a:t>GOVERNANCE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40145E-2700-9164-F513-D464CA5DFFC1}"/>
              </a:ext>
            </a:extLst>
          </p:cNvPr>
          <p:cNvSpPr/>
          <p:nvPr/>
        </p:nvSpPr>
        <p:spPr>
          <a:xfrm>
            <a:off x="830580" y="1223711"/>
            <a:ext cx="594360" cy="59436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8C384-6585-1D55-A93D-7B32864865B9}"/>
              </a:ext>
            </a:extLst>
          </p:cNvPr>
          <p:cNvSpPr txBox="1"/>
          <p:nvPr/>
        </p:nvSpPr>
        <p:spPr>
          <a:xfrm>
            <a:off x="1756611" y="1320836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C1C30"/>
                </a:solidFill>
                <a:latin typeface="Aptos"/>
              </a:defRPr>
            </a:pPr>
            <a:r>
              <a:rPr lang="en-IN" sz="2000" dirty="0"/>
              <a:t>Existing resources can remain non-compliant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EF8AE-0FB1-2C30-E61E-D7FBCBD078CB}"/>
              </a:ext>
            </a:extLst>
          </p:cNvPr>
          <p:cNvSpPr txBox="1"/>
          <p:nvPr/>
        </p:nvSpPr>
        <p:spPr>
          <a:xfrm>
            <a:off x="1756610" y="1866715"/>
            <a:ext cx="94889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r>
              <a:rPr lang="en-IN" sz="1400" b="1" dirty="0">
                <a:solidFill>
                  <a:srgbClr val="26323F"/>
                </a:solidFill>
                <a:latin typeface="Aptos"/>
              </a:rPr>
              <a:t>Why:</a:t>
            </a:r>
            <a:r>
              <a:rPr lang="en-IN" sz="1400" dirty="0">
                <a:solidFill>
                  <a:srgbClr val="26323F"/>
                </a:solidFill>
                <a:latin typeface="Aptos"/>
              </a:rPr>
              <a:t> Resources created before the policy may already be missing required tags or configurations.</a:t>
            </a:r>
          </a:p>
          <a:p>
            <a:r>
              <a:rPr lang="en-IN" sz="1400" b="1" dirty="0"/>
              <a:t>Problems caused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Older resources may not have required tags.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Resources may exist in non-approved configurations.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Administrators must identify which resources are non-compliant.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Manually fixing hundreds of resources is time-consuming.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Non-compliant resources can continue to create governance and cost-management issues.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Small real-life example</a:t>
            </a:r>
          </a:p>
          <a:p>
            <a:r>
              <a:rPr lang="en-IN" sz="1400" b="1" dirty="0"/>
              <a:t>Example:</a:t>
            </a:r>
            <a:br>
              <a:rPr lang="en-IN" sz="1400" dirty="0"/>
            </a:br>
            <a:r>
              <a:rPr lang="en-IN" sz="1400" dirty="0"/>
              <a:t>A company already has </a:t>
            </a:r>
            <a:r>
              <a:rPr lang="en-IN" sz="1400" b="1" dirty="0"/>
              <a:t>100 Azure VMs</a:t>
            </a:r>
            <a:r>
              <a:rPr lang="en-IN" sz="1400" dirty="0"/>
              <a:t> before introducing the </a:t>
            </a:r>
            <a:r>
              <a:rPr lang="en-IN" sz="1400" dirty="0" err="1"/>
              <a:t>CostCenter</a:t>
            </a:r>
            <a:r>
              <a:rPr lang="en-IN" sz="1400" dirty="0"/>
              <a:t> policy.</a:t>
            </a:r>
            <a:br>
              <a:rPr lang="en-IN" sz="1400" dirty="0"/>
            </a:br>
            <a:r>
              <a:rPr lang="en-IN" sz="1400" dirty="0"/>
              <a:t>After the policy is assigned, </a:t>
            </a:r>
            <a:r>
              <a:rPr lang="en-IN" sz="1400" b="1" dirty="0"/>
              <a:t>20 VMs are found without a </a:t>
            </a:r>
            <a:r>
              <a:rPr lang="en-IN" b="1" dirty="0" err="1"/>
              <a:t>CostCenter</a:t>
            </a:r>
            <a:r>
              <a:rPr lang="en-IN" sz="1400" b="1" dirty="0"/>
              <a:t> tag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These 20 resources are reported as </a:t>
            </a:r>
            <a:r>
              <a:rPr lang="en-IN" sz="1400" b="1" dirty="0"/>
              <a:t>Non-Compliant</a:t>
            </a:r>
            <a:r>
              <a:rPr lang="en-IN" sz="1400" dirty="0"/>
              <a:t> and need to be corrected.</a:t>
            </a:r>
          </a:p>
          <a:p>
            <a:r>
              <a:rPr lang="en-IN" sz="1400" b="1" dirty="0"/>
              <a:t>Key takeaway</a:t>
            </a:r>
          </a:p>
          <a:p>
            <a:r>
              <a:rPr lang="en-IN" sz="1400" b="1" dirty="0"/>
              <a:t>Governance must not only prevent future violations; it must also provide a way to identify and remediate existing non-compliant resources.</a:t>
            </a:r>
            <a:endParaRPr lang="en-IN" sz="1400" dirty="0"/>
          </a:p>
          <a:p>
            <a:pPr lvl="0"/>
            <a:endParaRPr lang="en-IN" sz="1400" dirty="0"/>
          </a:p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endParaRPr lang="en-IN" sz="1400" dirty="0">
              <a:solidFill>
                <a:srgbClr val="26323F"/>
              </a:solidFill>
              <a:latin typeface="Aptos"/>
            </a:endParaRPr>
          </a:p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661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06 •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How we overcome the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074920" cy="173736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50292" cy="173736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Controlled exemption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Emergency deployment → documented reason → approval → temporary exemption → review/expiry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074920" cy="173736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0292" cy="1737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Audit before Deny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Test policy impact first; identify false positives and legitimate exceptions before enforcing the hard block.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074920" cy="173736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50292" cy="173736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Modify + 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Use Modify when a reliable CostCenter source exists, then remediate existing non-compliant resources.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5074920" cy="173736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50292" cy="173736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Keep approved regions, tag name, and allowed values configurable rather than hard-coded.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A9199F-EF05-B179-C2CD-DF4AA9040AE9}"/>
              </a:ext>
            </a:extLst>
          </p:cNvPr>
          <p:cNvSpPr txBox="1"/>
          <p:nvPr/>
        </p:nvSpPr>
        <p:spPr>
          <a:xfrm>
            <a:off x="320842" y="1188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Solution — Controlled exception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B213D-892A-1069-8EC1-FA91F102FB2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D580B-3C2C-F102-4E45-029FD146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92" y="1161074"/>
            <a:ext cx="7579273" cy="45456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A732E7-5704-2615-36C3-A0B98AE5308B}"/>
              </a:ext>
            </a:extLst>
          </p:cNvPr>
          <p:cNvSpPr txBox="1"/>
          <p:nvPr/>
        </p:nvSpPr>
        <p:spPr>
          <a:xfrm>
            <a:off x="649705" y="760964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Architecture: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BD4A1-C1B7-4658-170D-F7A451138AF6}"/>
              </a:ext>
            </a:extLst>
          </p:cNvPr>
          <p:cNvSpPr txBox="1"/>
          <p:nvPr/>
        </p:nvSpPr>
        <p:spPr>
          <a:xfrm>
            <a:off x="748646" y="5958536"/>
            <a:ext cx="8941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allows governance without making governance completely inflexible.</a:t>
            </a:r>
          </a:p>
        </p:txBody>
      </p:sp>
    </p:spTree>
    <p:extLst>
      <p:ext uri="{BB962C8B-B14F-4D97-AF65-F5344CB8AC3E}">
        <p14:creationId xmlns:p14="http://schemas.microsoft.com/office/powerpoint/2010/main" val="146029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F38DA-BD5F-31A4-07D8-BEE54DF7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8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81600-FE55-6C2A-2F9C-E0810D68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48" y="342900"/>
            <a:ext cx="695325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4179B-F7BE-0C3D-51BB-A95AC82C1265}"/>
              </a:ext>
            </a:extLst>
          </p:cNvPr>
          <p:cNvSpPr txBox="1"/>
          <p:nvPr/>
        </p:nvSpPr>
        <p:spPr>
          <a:xfrm>
            <a:off x="1443789" y="501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Remediation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3CAE4-AFA1-768B-0256-241E3FADBAD6}"/>
              </a:ext>
            </a:extLst>
          </p:cNvPr>
          <p:cNvSpPr txBox="1"/>
          <p:nvPr/>
        </p:nvSpPr>
        <p:spPr>
          <a:xfrm>
            <a:off x="1556084" y="1105354"/>
            <a:ext cx="10315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Azure Policy supports remediation tasks for existing resources for policies using effects such as </a:t>
            </a:r>
            <a:r>
              <a:rPr lang="en-IN" dirty="0">
                <a:latin typeface="+mn-lt"/>
              </a:rPr>
              <a:t>Modify</a:t>
            </a:r>
            <a:r>
              <a:rPr lang="en-IN" dirty="0"/>
              <a:t> and </a:t>
            </a:r>
            <a:r>
              <a:rPr lang="en-IN" dirty="0" err="1">
                <a:latin typeface="+mn-lt"/>
              </a:rPr>
              <a:t>DeployIfNotExists</a:t>
            </a:r>
            <a:r>
              <a:rPr lang="en-IN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AA4DF-B8DF-1E13-8730-59E73D710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345" y="1751685"/>
            <a:ext cx="7357310" cy="35894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E197D7-9502-FF8A-8208-DA65EB5329EA}"/>
              </a:ext>
            </a:extLst>
          </p:cNvPr>
          <p:cNvSpPr txBox="1"/>
          <p:nvPr/>
        </p:nvSpPr>
        <p:spPr>
          <a:xfrm>
            <a:off x="1556084" y="5614146"/>
            <a:ext cx="9304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Microsoft documents that remediation tasks use the managed identity associated with the policy assignment to make the required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2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90AD5A-53B1-139B-C2DE-40883D29F1F0}"/>
              </a:ext>
            </a:extLst>
          </p:cNvPr>
          <p:cNvSpPr txBox="1"/>
          <p:nvPr/>
        </p:nvSpPr>
        <p:spPr>
          <a:xfrm>
            <a:off x="18288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Architectural Design for Our Project: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56B52-5E26-15EA-536C-BB4D9C76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198"/>
            <a:ext cx="12192000" cy="626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4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07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Proposed Azure Policy governance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057400" cy="960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" cy="9601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Developer / CI-CD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Deployment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325880"/>
            <a:ext cx="205740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1325880"/>
            <a:ext cx="50292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 Resource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Create /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325880"/>
            <a:ext cx="205740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49240" y="1325880"/>
            <a:ext cx="50292" cy="9601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Evaluate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325880"/>
            <a:ext cx="205740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132588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Policy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Deny / Modify /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325880"/>
            <a:ext cx="1508760" cy="9601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195560" y="1325880"/>
            <a:ext cx="50292" cy="9601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78440" y="149047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1920240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Resources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60320" y="1810512"/>
            <a:ext cx="365759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8348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0664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" y="3063240"/>
            <a:ext cx="27432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63240"/>
            <a:ext cx="50292" cy="114300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Governance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Management Group / Subscription / Resource Group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3063240"/>
            <a:ext cx="2743200" cy="114300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03320" y="3063240"/>
            <a:ext cx="50292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8620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Compliant / Non-compliant resources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3063240"/>
            <a:ext cx="2743200" cy="114300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20840" y="3063240"/>
            <a:ext cx="50292" cy="114300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0372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Managed Identity + RBAC permissions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3063240"/>
            <a:ext cx="1783080" cy="114300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738360" y="3063240"/>
            <a:ext cx="50292" cy="114300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21240" y="3227832"/>
            <a:ext cx="14173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3657600"/>
            <a:ext cx="1417319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Admin review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074920" y="2286000"/>
            <a:ext cx="1298448" cy="77724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092440" y="2286000"/>
            <a:ext cx="1051560" cy="77724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64040" y="3639312"/>
            <a:ext cx="274320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46520" y="3639312"/>
            <a:ext cx="274320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4800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Aptos"/>
              </a:defRPr>
            </a:pPr>
            <a:r>
              <a:t>Core request path</a:t>
            </a:r>
          </a:p>
        </p:txBody>
      </p:sp>
      <p:sp>
        <p:nvSpPr>
          <p:cNvPr id="54" name="Oval 53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70332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Evaluate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5216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49224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Enforce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4108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281159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39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Govern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08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each component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234440"/>
            <a:ext cx="411480" cy="411480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1615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Developer / CI-CD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97864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Initiates the deployment request through portal, CLI, IaC or pipeline.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029968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Resource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993392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Receives the resource deployment/update request.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825496"/>
            <a:ext cx="411480" cy="41148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0720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88920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Evaluates resource properties against assigned definitions.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21024"/>
            <a:ext cx="411480" cy="41148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0273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584448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Decides the action: allow, deny, audit, modify or deploy supporting configuration.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411480" cy="41148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9826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79976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Records the governance state so administrators can see violations.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212079"/>
            <a:ext cx="411480" cy="411480"/>
          </a:xfrm>
          <a:prstGeom prst="ellipse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19379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175503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Corrects applicable existing violations using the policy assignment identity and permissions.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09 • POLICY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Conceptual policy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394960" cy="425196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POLICY A  /  ALLOWED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800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IF</a:t>
            </a:r>
            <a:br/>
            <a:r>
              <a:t>  resource.location</a:t>
            </a:r>
            <a:br/>
            <a:r>
              <a:t>  NOT IN allowedLocations</a:t>
            </a:r>
            <a:br/>
            <a:br/>
            <a:r>
              <a:t>THEN</a:t>
            </a:r>
            <a:br/>
            <a:r>
              <a:t>  effect = Deny</a:t>
            </a:r>
            <a:br/>
            <a:br/>
            <a:r>
              <a:t>Parameter</a:t>
            </a:r>
            <a:br/>
            <a:r>
              <a:t>  allowedLocations = [approved regions]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394960" cy="425196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POLICY B  /  COSTCENTER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</a:defRPr>
            </a:pPr>
            <a:r>
              <a:t>IF</a:t>
            </a:r>
            <a:br/>
            <a:r>
              <a:t>  CostCenter is missing</a:t>
            </a:r>
            <a:br/>
            <a:r>
              <a:t>  OR value is invalid</a:t>
            </a:r>
            <a:br/>
            <a:br/>
            <a:r>
              <a:t>THEN</a:t>
            </a:r>
            <a:br/>
            <a:r>
              <a:t>  Modify  → trusted value</a:t>
            </a:r>
            <a:br/>
            <a:r>
              <a:t>  OR</a:t>
            </a:r>
            <a:br/>
            <a:r>
              <a:t>  Deny    → require valid value</a:t>
            </a:r>
            <a:br/>
            <a:br/>
            <a:r>
              <a:t>Parameter</a:t>
            </a:r>
            <a:br/>
            <a:r>
              <a:t>  tagName = CostCenter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806440"/>
            <a:ext cx="3246120" cy="310896"/>
          </a:xfrm>
          <a:prstGeom prst="roundRect">
            <a:avLst/>
          </a:prstGeom>
          <a:solidFill>
            <a:srgbClr val="EB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5824727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078D4"/>
                </a:solidFill>
                <a:latin typeface="Aptos"/>
              </a:defRPr>
            </a:pPr>
            <a:r>
              <a:t>PARAMETERIZED • REUSABLE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10 •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How the solution behaves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828800"/>
            <a:ext cx="621792" cy="621792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3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Developer creates or updates a resource.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2" y="2139696"/>
            <a:ext cx="1709927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34639" y="1828800"/>
            <a:ext cx="621792" cy="62179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Azure Policy checks location and CostCenter.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56432" y="2139696"/>
            <a:ext cx="1709927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66359" y="1828800"/>
            <a:ext cx="621792" cy="621792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Enforce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Deny blocks invalid requests; Modify corrects supported properties.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1" y="2139696"/>
            <a:ext cx="1709928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79" y="1828800"/>
            <a:ext cx="621792" cy="62179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Comply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1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Resource appears as compliant when requirements are satisfied.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19871" y="2139696"/>
            <a:ext cx="1709929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29800" y="1828800"/>
            <a:ext cx="621792" cy="621792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Existing violations are fixed through supported remediation tasks.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754880"/>
            <a:ext cx="9875520" cy="91440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4754880"/>
            <a:ext cx="50292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4919472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C1C30"/>
                </a:solidFill>
                <a:latin typeface="Aptos"/>
              </a:defRPr>
            </a:pPr>
            <a:r>
              <a:t>Key design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49240"/>
            <a:ext cx="95097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Prevent new violations where possible; make existing violations visible and fixable; keep legitimate exceptions controlled and auditable.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11 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Suggested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3429000" cy="16459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50292" cy="16459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1</a:t>
            </a:r>
            <a:br/>
            <a: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Approved regions • CostCenter format • exception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429000" cy="16459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50292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2</a:t>
            </a:r>
            <a:br/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Create policies • parameters • initiative • assignments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34440"/>
            <a:ext cx="3429000" cy="16459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50292" cy="16459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3</a:t>
            </a:r>
            <a:br/>
            <a: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Audit mode • test resources • inspect false positives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3429000" cy="16459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383280"/>
            <a:ext cx="50292" cy="16459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4</a:t>
            </a:r>
            <a:br/>
            <a:r>
              <a:t>Enforce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Move appropriate controls to Deny / Modify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29000" cy="16459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83280"/>
            <a:ext cx="50292" cy="16459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5</a:t>
            </a:r>
            <a:br/>
            <a:r>
              <a:t>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Identify existing violations • run remediation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383280"/>
            <a:ext cx="3429000" cy="16459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383280"/>
            <a:ext cx="50292" cy="16459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6</a:t>
            </a:r>
            <a:br/>
            <a: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Compliance review • exception review • policy change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14 •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the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474720" cy="16916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0292" cy="169164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Prevent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Unauthorized regions are blocked before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474720" cy="169164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50292" cy="169164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CostCenter metadata follows a defined governance rule.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474720" cy="169164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50292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Compliance state is visible to administrators.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83280"/>
            <a:ext cx="3474720" cy="169164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383280"/>
            <a:ext cx="50292" cy="169164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Applicable existing violations can be corrected.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74720" cy="16916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83280"/>
            <a:ext cx="50292" cy="169164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Exceptions become controlled, documented and reviewable.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383280"/>
            <a:ext cx="3474720" cy="169164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3383280"/>
            <a:ext cx="50292" cy="16916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The same governance model can be applied across scopes.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07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C1C30"/>
                </a:solidFill>
                <a:latin typeface="Aptos"/>
              </a:defRPr>
            </a:pPr>
            <a:r>
              <a:t>Prevent  →  Detect  →  Remediate  →  Govern at scale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15 •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One-line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0744200" cy="292608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“Govern Azure resources by policy —</a:t>
            </a:r>
            <a:br/>
            <a:r>
              <a:t>not by manual inspection.”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5468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BED5E8"/>
                </a:solidFill>
                <a:latin typeface="Aptos"/>
              </a:defRPr>
            </a:pPr>
            <a:r>
              <a:t>Control regions • enforce CostCenter • expose compliance • remediate violations • manage exceptions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8119" y="4766917"/>
            <a:ext cx="4404360" cy="582323"/>
          </a:xfrm>
          <a:prstGeom prst="roundRect">
            <a:avLst/>
          </a:prstGeom>
          <a:solidFill>
            <a:srgbClr val="1B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4910327"/>
            <a:ext cx="3794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0BCF2"/>
                </a:solidFill>
                <a:latin typeface="Aptos"/>
              </a:defRPr>
            </a:pPr>
            <a:r>
              <a:rPr sz="1600" dirty="0"/>
              <a:t>AZURE POLICY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623560"/>
            <a:ext cx="4663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C1C30"/>
                </a:solidFill>
                <a:latin typeface="Aptos"/>
              </a:defRPr>
            </a:pPr>
            <a:r>
              <a:rPr sz="3600" dirty="0"/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1396</Words>
  <Application>Microsoft Office PowerPoint</Application>
  <PresentationFormat>Widescreen</PresentationFormat>
  <Paragraphs>271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jitendra doddaka</cp:lastModifiedBy>
  <cp:revision>2</cp:revision>
  <dcterms:created xsi:type="dcterms:W3CDTF">2013-01-27T09:14:16Z</dcterms:created>
  <dcterms:modified xsi:type="dcterms:W3CDTF">2026-09-26T15:47:47Z</dcterms:modified>
  <cp:category/>
</cp:coreProperties>
</file>